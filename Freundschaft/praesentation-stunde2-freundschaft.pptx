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uli Bold" charset="1" panose="00000800000000000000"/>
      <p:regular r:id="rId13"/>
    </p:embeddedFont>
    <p:embeddedFont>
      <p:font typeface="Bebas Neue" charset="1" panose="00000500000000000000"/>
      <p:regular r:id="rId14"/>
    </p:embeddedFont>
    <p:embeddedFont>
      <p:font typeface="Muli Heavy" charset="1" panose="00000A00000000000000"/>
      <p:regular r:id="rId15"/>
    </p:embeddedFont>
    <p:embeddedFont>
      <p:font typeface="Bebas Neue Bold" charset="1" panose="020B0606020202050201"/>
      <p:regular r:id="rId16"/>
    </p:embeddedFont>
    <p:embeddedFont>
      <p:font typeface="Muli Ultra-Bold" charset="1" panose="00000900000000000000"/>
      <p:regular r:id="rId17"/>
    </p:embeddedFont>
    <p:embeddedFont>
      <p:font typeface="Muli" charset="1" panose="00000500000000000000"/>
      <p:regular r:id="rId18"/>
    </p:embeddedFont>
    <p:embeddedFont>
      <p:font typeface="Muli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2142670"/>
            <a:ext cx="10675292" cy="7072996"/>
          </a:xfrm>
          <a:custGeom>
            <a:avLst/>
            <a:gdLst/>
            <a:ahLst/>
            <a:cxnLst/>
            <a:rect r="r" b="b" t="t" l="l"/>
            <a:pathLst>
              <a:path h="7072996" w="10675292">
                <a:moveTo>
                  <a:pt x="0" y="0"/>
                </a:moveTo>
                <a:lnTo>
                  <a:pt x="10675292" y="0"/>
                </a:lnTo>
                <a:lnTo>
                  <a:pt x="10675292" y="7072995"/>
                </a:lnTo>
                <a:lnTo>
                  <a:pt x="0" y="7072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1818" y="4493047"/>
            <a:ext cx="8290852" cy="4296271"/>
          </a:xfrm>
          <a:custGeom>
            <a:avLst/>
            <a:gdLst/>
            <a:ahLst/>
            <a:cxnLst/>
            <a:rect r="r" b="b" t="t" l="l"/>
            <a:pathLst>
              <a:path h="4296271" w="8290852">
                <a:moveTo>
                  <a:pt x="0" y="0"/>
                </a:moveTo>
                <a:lnTo>
                  <a:pt x="8290852" y="0"/>
                </a:lnTo>
                <a:lnTo>
                  <a:pt x="829085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499343"/>
            <a:ext cx="14153512" cy="2787657"/>
          </a:xfrm>
          <a:custGeom>
            <a:avLst/>
            <a:gdLst/>
            <a:ahLst/>
            <a:cxnLst/>
            <a:rect r="r" b="b" t="t" l="l"/>
            <a:pathLst>
              <a:path h="2787657" w="14153512">
                <a:moveTo>
                  <a:pt x="0" y="0"/>
                </a:moveTo>
                <a:lnTo>
                  <a:pt x="14153512" y="0"/>
                </a:lnTo>
                <a:lnTo>
                  <a:pt x="14153512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26842" y="7925691"/>
            <a:ext cx="8061158" cy="1934962"/>
          </a:xfrm>
          <a:custGeom>
            <a:avLst/>
            <a:gdLst/>
            <a:ahLst/>
            <a:cxnLst/>
            <a:rect r="r" b="b" t="t" l="l"/>
            <a:pathLst>
              <a:path h="1934962" w="8061158">
                <a:moveTo>
                  <a:pt x="0" y="0"/>
                </a:moveTo>
                <a:lnTo>
                  <a:pt x="8061158" y="0"/>
                </a:lnTo>
                <a:lnTo>
                  <a:pt x="806115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45598" y="8997026"/>
            <a:ext cx="7842402" cy="1289974"/>
          </a:xfrm>
          <a:custGeom>
            <a:avLst/>
            <a:gdLst/>
            <a:ahLst/>
            <a:cxnLst/>
            <a:rect r="r" b="b" t="t" l="l"/>
            <a:pathLst>
              <a:path h="1289974" w="7842402">
                <a:moveTo>
                  <a:pt x="0" y="0"/>
                </a:moveTo>
                <a:lnTo>
                  <a:pt x="7842402" y="0"/>
                </a:lnTo>
                <a:lnTo>
                  <a:pt x="784240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41248" y="6141917"/>
            <a:ext cx="3694176" cy="68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053" b="true">
                <a:solidFill>
                  <a:srgbClr val="15676B"/>
                </a:solidFill>
                <a:latin typeface="Muli Bold"/>
                <a:ea typeface="Muli Bold"/>
                <a:cs typeface="Muli Bold"/>
                <a:sym typeface="Muli Bold"/>
              </a:rPr>
              <a:t>Ethik, </a:t>
            </a:r>
            <a:r>
              <a:rPr lang="en-US" sz="4053" b="true">
                <a:solidFill>
                  <a:srgbClr val="FF7958"/>
                </a:solidFill>
                <a:latin typeface="Muli Bold"/>
                <a:ea typeface="Muli Bold"/>
                <a:cs typeface="Muli Bold"/>
                <a:sym typeface="Muli Bold"/>
              </a:rPr>
              <a:t>8. Klasse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48" y="2327689"/>
            <a:ext cx="9070848" cy="356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61"/>
              </a:lnSpc>
            </a:pPr>
            <a:r>
              <a:rPr lang="en-US" sz="14957">
                <a:solidFill>
                  <a:srgbClr val="FF7958"/>
                </a:solidFill>
                <a:latin typeface="Bebas Neue"/>
                <a:ea typeface="Bebas Neue"/>
                <a:cs typeface="Bebas Neue"/>
                <a:sym typeface="Bebas Neue"/>
              </a:rPr>
              <a:t>Freundschaft:</a:t>
            </a:r>
          </a:p>
          <a:p>
            <a:pPr algn="l">
              <a:lnSpc>
                <a:spcPts val="13461"/>
              </a:lnSpc>
            </a:pPr>
            <a:r>
              <a:rPr lang="en-US" sz="14957">
                <a:solidFill>
                  <a:srgbClr val="15676B"/>
                </a:solidFill>
                <a:latin typeface="Bebas Neue"/>
                <a:ea typeface="Bebas Neue"/>
                <a:cs typeface="Bebas Neue"/>
                <a:sym typeface="Bebas Neue"/>
              </a:rPr>
              <a:t>Wandel &amp; Ende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33399"/>
            <a:ext cx="18288000" cy="2153601"/>
          </a:xfrm>
          <a:custGeom>
            <a:avLst/>
            <a:gdLst/>
            <a:ahLst/>
            <a:cxnLst/>
            <a:rect r="r" b="b" t="t" l="l"/>
            <a:pathLst>
              <a:path h="2153601" w="18288000">
                <a:moveTo>
                  <a:pt x="0" y="0"/>
                </a:moveTo>
                <a:lnTo>
                  <a:pt x="18288000" y="0"/>
                </a:lnTo>
                <a:lnTo>
                  <a:pt x="1828800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45502" y="1060403"/>
            <a:ext cx="4801694" cy="863627"/>
          </a:xfrm>
          <a:custGeom>
            <a:avLst/>
            <a:gdLst/>
            <a:ahLst/>
            <a:cxnLst/>
            <a:rect r="r" b="b" t="t" l="l"/>
            <a:pathLst>
              <a:path h="863627" w="4801694">
                <a:moveTo>
                  <a:pt x="0" y="0"/>
                </a:moveTo>
                <a:lnTo>
                  <a:pt x="4801694" y="0"/>
                </a:lnTo>
                <a:lnTo>
                  <a:pt x="4801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04446" y="1060403"/>
            <a:ext cx="5239206" cy="863627"/>
          </a:xfrm>
          <a:custGeom>
            <a:avLst/>
            <a:gdLst/>
            <a:ahLst/>
            <a:cxnLst/>
            <a:rect r="r" b="b" t="t" l="l"/>
            <a:pathLst>
              <a:path h="863627" w="5239206">
                <a:moveTo>
                  <a:pt x="0" y="0"/>
                </a:moveTo>
                <a:lnTo>
                  <a:pt x="5239206" y="0"/>
                </a:lnTo>
                <a:lnTo>
                  <a:pt x="5239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47196" y="4711687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66904" y="3028393"/>
            <a:ext cx="5560542" cy="3707028"/>
          </a:xfrm>
          <a:custGeom>
            <a:avLst/>
            <a:gdLst/>
            <a:ahLst/>
            <a:cxnLst/>
            <a:rect r="r" b="b" t="t" l="l"/>
            <a:pathLst>
              <a:path h="3707028" w="5560542">
                <a:moveTo>
                  <a:pt x="0" y="0"/>
                </a:moveTo>
                <a:lnTo>
                  <a:pt x="5560542" y="0"/>
                </a:lnTo>
                <a:lnTo>
                  <a:pt x="5560542" y="3707028"/>
                </a:lnTo>
                <a:lnTo>
                  <a:pt x="0" y="37070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04446" y="3028393"/>
            <a:ext cx="5560542" cy="3707028"/>
          </a:xfrm>
          <a:custGeom>
            <a:avLst/>
            <a:gdLst/>
            <a:ahLst/>
            <a:cxnLst/>
            <a:rect r="r" b="b" t="t" l="l"/>
            <a:pathLst>
              <a:path h="3707028" w="5560542">
                <a:moveTo>
                  <a:pt x="0" y="0"/>
                </a:moveTo>
                <a:lnTo>
                  <a:pt x="5560542" y="0"/>
                </a:lnTo>
                <a:lnTo>
                  <a:pt x="5560542" y="3707028"/>
                </a:lnTo>
                <a:lnTo>
                  <a:pt x="0" y="3707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01899" y="1239649"/>
            <a:ext cx="4488900" cy="45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b="true" sz="2669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BESTE FREUNDE MIT 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8350" y="1249174"/>
            <a:ext cx="5035302" cy="43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b="true" sz="2612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KEIN KONTAKT MEHR MIT 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" y="279068"/>
            <a:ext cx="5449824" cy="27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4"/>
              </a:lnSpc>
            </a:pPr>
            <a:r>
              <a:rPr lang="en-US" sz="15989" b="true">
                <a:solidFill>
                  <a:srgbClr val="F4592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EINSTIEG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656" y="3301419"/>
            <a:ext cx="5065776" cy="197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6"/>
              </a:lnSpc>
            </a:pPr>
            <a:r>
              <a:rPr lang="en-US" sz="4363" b="true">
                <a:solidFill>
                  <a:srgbClr val="1D515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Zwei Bilder. </a:t>
            </a:r>
          </a:p>
          <a:p>
            <a:pPr algn="l">
              <a:lnSpc>
                <a:spcPts val="5236"/>
              </a:lnSpc>
            </a:pPr>
            <a:r>
              <a:rPr lang="en-US" sz="4363" b="true">
                <a:solidFill>
                  <a:srgbClr val="1D515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Eine Veränderung. </a:t>
            </a:r>
          </a:p>
          <a:p>
            <a:pPr algn="l">
              <a:lnSpc>
                <a:spcPts val="5236"/>
              </a:lnSpc>
            </a:pPr>
            <a:r>
              <a:rPr lang="en-US" sz="4363" b="true">
                <a:solidFill>
                  <a:srgbClr val="1D515A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Was ist passiert?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656" y="5866059"/>
            <a:ext cx="5394960" cy="202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5"/>
              </a:lnSpc>
            </a:pPr>
            <a:r>
              <a:rPr lang="en-US" sz="2723" b="true">
                <a:solidFill>
                  <a:srgbClr val="1D515A"/>
                </a:solidFill>
                <a:latin typeface="Muli Bold"/>
                <a:ea typeface="Muli Bold"/>
                <a:cs typeface="Muli Bold"/>
                <a:sym typeface="Muli Bold"/>
              </a:rPr>
              <a:t>Schaut genau hin. </a:t>
            </a:r>
          </a:p>
          <a:p>
            <a:pPr algn="l">
              <a:lnSpc>
                <a:spcPts val="4085"/>
              </a:lnSpc>
            </a:pPr>
            <a:r>
              <a:rPr lang="en-US" sz="2723" b="true">
                <a:solidFill>
                  <a:srgbClr val="1D515A"/>
                </a:solidFill>
                <a:latin typeface="Muli Bold"/>
                <a:ea typeface="Muli Bold"/>
                <a:cs typeface="Muli Bold"/>
                <a:sym typeface="Muli Bold"/>
              </a:rPr>
              <a:t>Sammelt </a:t>
            </a:r>
            <a:r>
              <a:rPr lang="en-US" sz="2723" b="true">
                <a:solidFill>
                  <a:srgbClr val="F4592F"/>
                </a:solidFill>
                <a:latin typeface="Muli Bold"/>
                <a:ea typeface="Muli Bold"/>
                <a:cs typeface="Muli Bold"/>
                <a:sym typeface="Muli Bold"/>
              </a:rPr>
              <a:t>spontan Vermutungen</a:t>
            </a:r>
            <a:r>
              <a:rPr lang="en-US" sz="2723" b="true">
                <a:solidFill>
                  <a:srgbClr val="1D515A"/>
                </a:solidFill>
                <a:latin typeface="Muli Bold"/>
                <a:ea typeface="Muli Bold"/>
                <a:cs typeface="Muli Bold"/>
                <a:sym typeface="Muli Bold"/>
              </a:rPr>
              <a:t>, was zwischen den Bildern passiert sein könnte.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33399"/>
            <a:ext cx="18288000" cy="2153601"/>
          </a:xfrm>
          <a:custGeom>
            <a:avLst/>
            <a:gdLst/>
            <a:ahLst/>
            <a:cxnLst/>
            <a:rect r="r" b="b" t="t" l="l"/>
            <a:pathLst>
              <a:path h="2153601" w="18288000">
                <a:moveTo>
                  <a:pt x="0" y="0"/>
                </a:moveTo>
                <a:lnTo>
                  <a:pt x="18288000" y="0"/>
                </a:lnTo>
                <a:lnTo>
                  <a:pt x="1828800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080" y="402103"/>
            <a:ext cx="7735824" cy="206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28"/>
              </a:lnSpc>
            </a:pPr>
            <a:r>
              <a:rPr lang="en-US" sz="11949" b="true">
                <a:solidFill>
                  <a:srgbClr val="F4674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Arbeitsphase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656" y="2255770"/>
            <a:ext cx="6766560" cy="62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3679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Kurzgeschichte &amp; Rollenspiel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421712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086" y="3848060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493047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27632" y="3581327"/>
            <a:ext cx="3182112" cy="5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5"/>
              </a:lnSpc>
            </a:pPr>
            <a:r>
              <a:rPr lang="en-US" sz="3025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Bildet 4 Gruppen.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7632" y="4492618"/>
            <a:ext cx="4791456" cy="99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062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Zieht eine Karte mit eurer Kurzgeschichte.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783021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7632" y="5891650"/>
            <a:ext cx="4992624" cy="99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062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Bereitet ein Rollenspiel vor (max. 10 Minuten).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728070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27632" y="7270108"/>
            <a:ext cx="4992624" cy="99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062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Stellt Situation und Gefühle </a:t>
            </a:r>
            <a:r>
              <a:rPr lang="en-US" sz="3062" b="true">
                <a:solidFill>
                  <a:srgbClr val="F4674B"/>
                </a:solidFill>
                <a:latin typeface="Muli Bold"/>
                <a:ea typeface="Muli Bold"/>
                <a:cs typeface="Muli Bold"/>
                <a:sym typeface="Muli Bold"/>
              </a:rPr>
              <a:t>beider Seiten</a:t>
            </a:r>
            <a:r>
              <a:rPr lang="en-US" sz="3062" b="true">
                <a:solidFill>
                  <a:srgbClr val="1F4C50"/>
                </a:solidFill>
                <a:latin typeface="Muli Bold"/>
                <a:ea typeface="Muli Bold"/>
                <a:cs typeface="Muli Bold"/>
                <a:sym typeface="Muli Bold"/>
              </a:rPr>
              <a:t> dar.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852695"/>
            <a:ext cx="8717426" cy="7083928"/>
          </a:xfrm>
          <a:custGeom>
            <a:avLst/>
            <a:gdLst/>
            <a:ahLst/>
            <a:cxnLst/>
            <a:rect r="r" b="b" t="t" l="l"/>
            <a:pathLst>
              <a:path h="7083928" w="8717426">
                <a:moveTo>
                  <a:pt x="0" y="0"/>
                </a:moveTo>
                <a:lnTo>
                  <a:pt x="8717426" y="0"/>
                </a:lnTo>
                <a:lnTo>
                  <a:pt x="8717426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935382"/>
            <a:ext cx="8412480" cy="173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80"/>
              </a:lnSpc>
            </a:pPr>
            <a:r>
              <a:rPr lang="en-US" sz="12980" b="true">
                <a:solidFill>
                  <a:srgbClr val="F46B47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Arbeitsphase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99627"/>
            <a:ext cx="8498670" cy="2579949"/>
          </a:xfrm>
          <a:custGeom>
            <a:avLst/>
            <a:gdLst/>
            <a:ahLst/>
            <a:cxnLst/>
            <a:rect r="r" b="b" t="t" l="l"/>
            <a:pathLst>
              <a:path h="2579949" w="8498670">
                <a:moveTo>
                  <a:pt x="0" y="0"/>
                </a:moveTo>
                <a:lnTo>
                  <a:pt x="8498670" y="0"/>
                </a:lnTo>
                <a:lnTo>
                  <a:pt x="849867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7824" y="3086174"/>
            <a:ext cx="4352544" cy="155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8"/>
              </a:lnSpc>
            </a:pPr>
            <a:r>
              <a:rPr lang="en-US" sz="5958" b="true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Aufführung: Rollenspiele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656" y="5303426"/>
            <a:ext cx="6473952" cy="95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26636D"/>
                </a:solidFill>
                <a:latin typeface="Muli Bold"/>
                <a:ea typeface="Muli Bold"/>
                <a:cs typeface="Muli Bold"/>
                <a:sym typeface="Muli Bold"/>
              </a:rPr>
              <a:t>Jede Gruppe präsentiert ihr Rollenspiel vor der Klasse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656" y="6618072"/>
            <a:ext cx="5961888" cy="44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2691" b="true">
                <a:solidFill>
                  <a:srgbClr val="26636D"/>
                </a:solidFill>
                <a:latin typeface="Muli Bold"/>
                <a:ea typeface="Muli Bold"/>
                <a:cs typeface="Muli Bold"/>
                <a:sym typeface="Muli Bold"/>
              </a:rPr>
              <a:t>Ihr könnt nachfragen und mitdenken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656" y="7395590"/>
            <a:ext cx="5852160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26636D"/>
                </a:solidFill>
                <a:latin typeface="Muli Bold"/>
                <a:ea typeface="Muli Bold"/>
                <a:cs typeface="Muli Bold"/>
                <a:sym typeface="Muli Bold"/>
              </a:rPr>
              <a:t>Zuhören, reflektieren und verstehen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70574" y="2399627"/>
            <a:ext cx="8072096" cy="5575313"/>
          </a:xfrm>
          <a:custGeom>
            <a:avLst/>
            <a:gdLst/>
            <a:ahLst/>
            <a:cxnLst/>
            <a:rect r="r" b="b" t="t" l="l"/>
            <a:pathLst>
              <a:path h="5575313" w="8072096">
                <a:moveTo>
                  <a:pt x="0" y="0"/>
                </a:moveTo>
                <a:lnTo>
                  <a:pt x="8072096" y="0"/>
                </a:lnTo>
                <a:lnTo>
                  <a:pt x="8072096" y="5575314"/>
                </a:lnTo>
                <a:lnTo>
                  <a:pt x="0" y="557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8133399"/>
            <a:ext cx="18288000" cy="2153601"/>
          </a:xfrm>
          <a:custGeom>
            <a:avLst/>
            <a:gdLst/>
            <a:ahLst/>
            <a:cxnLst/>
            <a:rect r="r" b="b" t="t" l="l"/>
            <a:pathLst>
              <a:path h="2153601" w="18288000">
                <a:moveTo>
                  <a:pt x="0" y="0"/>
                </a:moveTo>
                <a:lnTo>
                  <a:pt x="18288000" y="0"/>
                </a:lnTo>
                <a:lnTo>
                  <a:pt x="1828800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31464" y="634055"/>
            <a:ext cx="9811206" cy="7083928"/>
          </a:xfrm>
          <a:custGeom>
            <a:avLst/>
            <a:gdLst/>
            <a:ahLst/>
            <a:cxnLst/>
            <a:rect r="r" b="b" t="t" l="l"/>
            <a:pathLst>
              <a:path h="7083928" w="9811206">
                <a:moveTo>
                  <a:pt x="0" y="0"/>
                </a:moveTo>
                <a:lnTo>
                  <a:pt x="9811206" y="0"/>
                </a:lnTo>
                <a:lnTo>
                  <a:pt x="9811206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5598" y="2776725"/>
            <a:ext cx="3926670" cy="2372241"/>
          </a:xfrm>
          <a:custGeom>
            <a:avLst/>
            <a:gdLst/>
            <a:ahLst/>
            <a:cxnLst/>
            <a:rect r="r" b="b" t="t" l="l"/>
            <a:pathLst>
              <a:path h="2372241" w="3926670">
                <a:moveTo>
                  <a:pt x="0" y="0"/>
                </a:moveTo>
                <a:lnTo>
                  <a:pt x="3926670" y="0"/>
                </a:lnTo>
                <a:lnTo>
                  <a:pt x="392667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155680" y="3387077"/>
            <a:ext cx="2615184" cy="126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828">
                <a:solidFill>
                  <a:srgbClr val="F4F4F4"/>
                </a:solidFill>
                <a:latin typeface="Muli"/>
                <a:ea typeface="Muli"/>
                <a:cs typeface="Muli"/>
                <a:sym typeface="Muli"/>
              </a:rPr>
              <a:t>Warum gehen Freundschaften auseinander?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706488" y="1705390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01866" y="1071335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23818" y="1705390"/>
            <a:ext cx="2843828" cy="1082267"/>
          </a:xfrm>
          <a:custGeom>
            <a:avLst/>
            <a:gdLst/>
            <a:ahLst/>
            <a:cxnLst/>
            <a:rect r="r" b="b" t="t" l="l"/>
            <a:pathLst>
              <a:path h="1082267" w="2843828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98842" y="3214004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61330" y="4711687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28440" y="535667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5356674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8976" y="3640352"/>
            <a:ext cx="1750048" cy="1289974"/>
          </a:xfrm>
          <a:custGeom>
            <a:avLst/>
            <a:gdLst/>
            <a:ahLst/>
            <a:cxnLst/>
            <a:rect r="r" b="b" t="t" l="l"/>
            <a:pathLst>
              <a:path h="1289974" w="1750048">
                <a:moveTo>
                  <a:pt x="0" y="0"/>
                </a:moveTo>
                <a:lnTo>
                  <a:pt x="1750048" y="0"/>
                </a:lnTo>
                <a:lnTo>
                  <a:pt x="1750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352038"/>
            <a:ext cx="13508182" cy="1934962"/>
          </a:xfrm>
          <a:custGeom>
            <a:avLst/>
            <a:gdLst/>
            <a:ahLst/>
            <a:cxnLst/>
            <a:rect r="r" b="b" t="t" l="l"/>
            <a:pathLst>
              <a:path h="1934962" w="13508182">
                <a:moveTo>
                  <a:pt x="0" y="0"/>
                </a:moveTo>
                <a:lnTo>
                  <a:pt x="13508182" y="0"/>
                </a:lnTo>
                <a:lnTo>
                  <a:pt x="1350818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06488" y="8133399"/>
            <a:ext cx="9581512" cy="2153601"/>
          </a:xfrm>
          <a:custGeom>
            <a:avLst/>
            <a:gdLst/>
            <a:ahLst/>
            <a:cxnLst/>
            <a:rect r="r" b="b" t="t" l="l"/>
            <a:pathLst>
              <a:path h="2153601" w="9581512">
                <a:moveTo>
                  <a:pt x="0" y="0"/>
                </a:moveTo>
                <a:lnTo>
                  <a:pt x="9581512" y="0"/>
                </a:lnTo>
                <a:lnTo>
                  <a:pt x="958151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8368" y="903197"/>
            <a:ext cx="5705856" cy="160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9"/>
              </a:lnSpc>
            </a:pPr>
            <a:r>
              <a:rPr lang="en-US" sz="11949" b="true">
                <a:solidFill>
                  <a:srgbClr val="F4673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Diskussion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" y="2434252"/>
            <a:ext cx="5193792" cy="107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317" b="true">
                <a:solidFill>
                  <a:srgbClr val="115B6C"/>
                </a:solidFill>
                <a:latin typeface="Muli Bold"/>
                <a:ea typeface="Muli Bold"/>
                <a:cs typeface="Muli Bold"/>
                <a:sym typeface="Muli Bold"/>
              </a:rPr>
              <a:t>Gemeinsam nachdenken. Perspektiven verstehen.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8096" y="3901521"/>
            <a:ext cx="5120640" cy="8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 b="true">
                <a:solidFill>
                  <a:srgbClr val="115B6C"/>
                </a:solidFill>
                <a:latin typeface="Muli Bold"/>
                <a:ea typeface="Muli Bold"/>
                <a:cs typeface="Muli Bold"/>
                <a:sym typeface="Muli Bold"/>
              </a:rPr>
              <a:t>Wir sammeln Gründe und Sichtweisen im Gespräch.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4711687"/>
            <a:ext cx="5457962" cy="218640"/>
          </a:xfrm>
          <a:custGeom>
            <a:avLst/>
            <a:gdLst/>
            <a:ahLst/>
            <a:cxnLst/>
            <a:rect r="r" b="b" t="t" l="l"/>
            <a:pathLst>
              <a:path h="218640" w="5457962">
                <a:moveTo>
                  <a:pt x="0" y="0"/>
                </a:moveTo>
                <a:lnTo>
                  <a:pt x="5457962" y="0"/>
                </a:lnTo>
                <a:lnTo>
                  <a:pt x="5457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68096" y="5093827"/>
            <a:ext cx="4718304" cy="79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146" b="true">
                <a:solidFill>
                  <a:srgbClr val="115B6C"/>
                </a:solidFill>
                <a:latin typeface="Muli Bold"/>
                <a:ea typeface="Muli Bold"/>
                <a:cs typeface="Muli Bold"/>
                <a:sym typeface="Muli Bold"/>
              </a:rPr>
              <a:t>Frage im Mittelpunkt: Warum gehen Freundschaften auseinander?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5990729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68096" y="6174948"/>
            <a:ext cx="5120640" cy="8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 b="true">
                <a:solidFill>
                  <a:srgbClr val="115B6C"/>
                </a:solidFill>
                <a:latin typeface="Muli Bold"/>
                <a:ea typeface="Muli Bold"/>
                <a:cs typeface="Muli Bold"/>
                <a:sym typeface="Muli Bold"/>
              </a:rPr>
              <a:t>Leitfrage: Kann man eine Freundschaft retten?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5330" y="7062064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68096" y="7371052"/>
            <a:ext cx="4956048" cy="72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248" b="true">
                <a:solidFill>
                  <a:srgbClr val="115B6C"/>
                </a:solidFill>
                <a:latin typeface="Muli Bold"/>
                <a:ea typeface="Muli Bold"/>
                <a:cs typeface="Muli Bold"/>
                <a:sym typeface="Muli Bold"/>
              </a:rPr>
              <a:t>Wir hören zu, fragen nach und ordnen unsere Gedanken im Cluster.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393952" y="8133399"/>
            <a:ext cx="6540804" cy="1300906"/>
          </a:xfrm>
          <a:custGeom>
            <a:avLst/>
            <a:gdLst/>
            <a:ahLst/>
            <a:cxnLst/>
            <a:rect r="r" b="b" t="t" l="l"/>
            <a:pathLst>
              <a:path h="1300906" w="6540804">
                <a:moveTo>
                  <a:pt x="0" y="0"/>
                </a:moveTo>
                <a:lnTo>
                  <a:pt x="6540804" y="0"/>
                </a:lnTo>
                <a:lnTo>
                  <a:pt x="6540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570574" y="7062064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52038"/>
            <a:ext cx="13716000" cy="1934962"/>
          </a:xfrm>
          <a:custGeom>
            <a:avLst/>
            <a:gdLst/>
            <a:ahLst/>
            <a:cxnLst/>
            <a:rect r="r" b="b" t="t" l="l"/>
            <a:pathLst>
              <a:path h="1934962" w="13716000">
                <a:moveTo>
                  <a:pt x="0" y="0"/>
                </a:moveTo>
                <a:lnTo>
                  <a:pt x="13716000" y="0"/>
                </a:lnTo>
                <a:lnTo>
                  <a:pt x="1371600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8133399"/>
            <a:ext cx="9581512" cy="2153601"/>
          </a:xfrm>
          <a:custGeom>
            <a:avLst/>
            <a:gdLst/>
            <a:ahLst/>
            <a:cxnLst/>
            <a:rect r="r" b="b" t="t" l="l"/>
            <a:pathLst>
              <a:path h="2153601" w="9581512">
                <a:moveTo>
                  <a:pt x="0" y="0"/>
                </a:moveTo>
                <a:lnTo>
                  <a:pt x="9581512" y="0"/>
                </a:lnTo>
                <a:lnTo>
                  <a:pt x="958151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08086" y="9204733"/>
            <a:ext cx="8279914" cy="1082267"/>
          </a:xfrm>
          <a:custGeom>
            <a:avLst/>
            <a:gdLst/>
            <a:ahLst/>
            <a:cxnLst/>
            <a:rect r="r" b="b" t="t" l="l"/>
            <a:pathLst>
              <a:path h="1082267" w="8279914">
                <a:moveTo>
                  <a:pt x="0" y="0"/>
                </a:moveTo>
                <a:lnTo>
                  <a:pt x="8279914" y="0"/>
                </a:lnTo>
                <a:lnTo>
                  <a:pt x="827991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268976" y="1516635"/>
            <a:ext cx="9373694" cy="7510275"/>
          </a:xfrm>
          <a:custGeom>
            <a:avLst/>
            <a:gdLst/>
            <a:ahLst/>
            <a:cxnLst/>
            <a:rect r="r" b="b" t="t" l="l"/>
            <a:pathLst>
              <a:path h="7510275" w="9373694">
                <a:moveTo>
                  <a:pt x="0" y="0"/>
                </a:moveTo>
                <a:lnTo>
                  <a:pt x="9373694" y="0"/>
                </a:lnTo>
                <a:lnTo>
                  <a:pt x="937369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1792" y="993538"/>
            <a:ext cx="6364224" cy="1921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55"/>
              </a:lnSpc>
            </a:pPr>
            <a:r>
              <a:rPr lang="en-US" sz="14355" b="true">
                <a:solidFill>
                  <a:srgbClr val="FF794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Abschluss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1792" y="2858372"/>
            <a:ext cx="7647184" cy="511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23" b="true">
                <a:solidFill>
                  <a:srgbClr val="26636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Teile deinen besten Tipp: </a:t>
            </a:r>
          </a:p>
          <a:p>
            <a:pPr algn="l">
              <a:lnSpc>
                <a:spcPts val="4512"/>
              </a:lnSpc>
            </a:pPr>
            <a:r>
              <a:rPr lang="en-US" sz="3223" b="true">
                <a:solidFill>
                  <a:srgbClr val="FF7948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Was würdest du jemandem raten, der gerade eine Freundschaft verliert?</a:t>
            </a:r>
          </a:p>
          <a:p>
            <a:pPr algn="l">
              <a:lnSpc>
                <a:spcPts val="4512"/>
              </a:lnSpc>
            </a:pPr>
          </a:p>
          <a:p>
            <a:pPr algn="l">
              <a:lnSpc>
                <a:spcPts val="4512"/>
              </a:lnSpc>
            </a:pPr>
            <a:r>
              <a:rPr lang="en-US" sz="3223" b="true">
                <a:solidFill>
                  <a:srgbClr val="26636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Wir sammeln alle Karten und gestalten unsere Klassen-Tippsammlung.</a:t>
            </a:r>
          </a:p>
          <a:p>
            <a:pPr algn="l">
              <a:lnSpc>
                <a:spcPts val="4512"/>
              </a:lnSpc>
            </a:pPr>
          </a:p>
          <a:p>
            <a:pPr algn="l">
              <a:lnSpc>
                <a:spcPts val="4512"/>
              </a:lnSpc>
            </a:pPr>
            <a:r>
              <a:rPr lang="en-US" sz="3223" b="true">
                <a:solidFill>
                  <a:srgbClr val="266369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So sichern wir unsere Ergebnisse und lernen voneinander.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3214004"/>
            <a:ext cx="5239206" cy="5575313"/>
          </a:xfrm>
          <a:custGeom>
            <a:avLst/>
            <a:gdLst/>
            <a:ahLst/>
            <a:cxnLst/>
            <a:rect r="r" b="b" t="t" l="l"/>
            <a:pathLst>
              <a:path h="5575313" w="5239206">
                <a:moveTo>
                  <a:pt x="0" y="0"/>
                </a:moveTo>
                <a:lnTo>
                  <a:pt x="5239206" y="0"/>
                </a:lnTo>
                <a:lnTo>
                  <a:pt x="5239206" y="5575314"/>
                </a:lnTo>
                <a:lnTo>
                  <a:pt x="0" y="5575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570678"/>
            <a:ext cx="13508182" cy="1716322"/>
          </a:xfrm>
          <a:custGeom>
            <a:avLst/>
            <a:gdLst/>
            <a:ahLst/>
            <a:cxnLst/>
            <a:rect r="r" b="b" t="t" l="l"/>
            <a:pathLst>
              <a:path h="1716322" w="13508182">
                <a:moveTo>
                  <a:pt x="0" y="0"/>
                </a:moveTo>
                <a:lnTo>
                  <a:pt x="13508182" y="0"/>
                </a:lnTo>
                <a:lnTo>
                  <a:pt x="1350818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6488" y="8133399"/>
            <a:ext cx="9581512" cy="1727254"/>
          </a:xfrm>
          <a:custGeom>
            <a:avLst/>
            <a:gdLst/>
            <a:ahLst/>
            <a:cxnLst/>
            <a:rect r="r" b="b" t="t" l="l"/>
            <a:pathLst>
              <a:path h="1727254" w="9581512">
                <a:moveTo>
                  <a:pt x="0" y="0"/>
                </a:moveTo>
                <a:lnTo>
                  <a:pt x="9581512" y="0"/>
                </a:lnTo>
                <a:lnTo>
                  <a:pt x="958151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26842" y="9204733"/>
            <a:ext cx="8061158" cy="1082267"/>
          </a:xfrm>
          <a:custGeom>
            <a:avLst/>
            <a:gdLst/>
            <a:ahLst/>
            <a:cxnLst/>
            <a:rect r="r" b="b" t="t" l="l"/>
            <a:pathLst>
              <a:path h="1082267" w="8061158">
                <a:moveTo>
                  <a:pt x="0" y="0"/>
                </a:moveTo>
                <a:lnTo>
                  <a:pt x="8061158" y="0"/>
                </a:lnTo>
                <a:lnTo>
                  <a:pt x="806115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834275"/>
            <a:ext cx="8723376" cy="443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8"/>
              </a:lnSpc>
            </a:pPr>
            <a:r>
              <a:rPr lang="en-US" sz="11498" b="true">
                <a:solidFill>
                  <a:srgbClr val="FF795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Freundschaften verändern sich, das ist normal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672" y="5833688"/>
            <a:ext cx="8065008" cy="198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107" b="true">
                <a:solidFill>
                  <a:srgbClr val="226B69"/>
                </a:solidFill>
                <a:latin typeface="Muli Bold"/>
                <a:ea typeface="Muli Bold"/>
                <a:cs typeface="Muli Bold"/>
                <a:sym typeface="Muli Bold"/>
              </a:rPr>
              <a:t>“Manchmal heißt Freundschaft auch loslassen – und Platz für Neues schaffen.”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DAHWljfRKkw</dc:identifier>
  <dcterms:modified xsi:type="dcterms:W3CDTF">2011-08-01T06:04:30Z</dcterms:modified>
  <cp:revision>1</cp:revision>
  <dc:title>Freundschaft im Wandel</dc:title>
</cp:coreProperties>
</file>